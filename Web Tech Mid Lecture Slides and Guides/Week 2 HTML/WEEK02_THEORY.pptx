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  <p:sldId id="277" r:id="rId3"/>
    <p:sldId id="258" r:id="rId4"/>
    <p:sldId id="302" r:id="rId5"/>
    <p:sldId id="316" r:id="rId6"/>
    <p:sldId id="267" r:id="rId7"/>
    <p:sldId id="268" r:id="rId8"/>
    <p:sldId id="318" r:id="rId9"/>
    <p:sldId id="319" r:id="rId10"/>
    <p:sldId id="310" r:id="rId11"/>
    <p:sldId id="293" r:id="rId12"/>
    <p:sldId id="295" r:id="rId13"/>
    <p:sldId id="296" r:id="rId14"/>
    <p:sldId id="297" r:id="rId15"/>
    <p:sldId id="2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B67687-243A-4817-903B-D55CEB6DF004}" v="1" dt="2025-11-12T11:16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Sazid Uddin" userId="bf7103ce-f704-450c-833b-8f6e8b9d55ed" providerId="ADAL" clId="{3341DC39-4639-411F-B2A0-5D337C89F3E7}"/>
    <pc:docChg chg="modSld">
      <pc:chgData name="Md. Sazid Uddin" userId="bf7103ce-f704-450c-833b-8f6e8b9d55ed" providerId="ADAL" clId="{3341DC39-4639-411F-B2A0-5D337C89F3E7}" dt="2025-11-12T11:16:06.620" v="0"/>
      <pc:docMkLst>
        <pc:docMk/>
      </pc:docMkLst>
      <pc:sldChg chg="addSp">
        <pc:chgData name="Md. Sazid Uddin" userId="bf7103ce-f704-450c-833b-8f6e8b9d55ed" providerId="ADAL" clId="{3341DC39-4639-411F-B2A0-5D337C89F3E7}" dt="2025-11-12T11:16:06.620" v="0"/>
        <pc:sldMkLst>
          <pc:docMk/>
          <pc:sldMk cId="3866692732" sldId="298"/>
        </pc:sldMkLst>
        <pc:inkChg chg="add">
          <ac:chgData name="Md. Sazid Uddin" userId="bf7103ce-f704-450c-833b-8f6e8b9d55ed" providerId="ADAL" clId="{3341DC39-4639-411F-B2A0-5D337C89F3E7}" dt="2025-11-12T11:16:06.620" v="0"/>
          <ac:inkMkLst>
            <pc:docMk/>
            <pc:sldMk cId="3866692732" sldId="298"/>
            <ac:inkMk id="6" creationId="{55EBF155-3F01-A433-26C2-8C9BE12D7CA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2T10:42:24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15557 9102 0,'0'53'266,"0"194"-235,0-177-31,0-17 16,0 70 0,0-105-16,0 35 15,0 0 1,0-35-1,0 17-15,0-18 16,0 19 15,0-19-15,0 1 0,0 0-16,0-1 31,36-17 78,-1 0-78,0 0-15,18 0-16,53 0 16,123 0 15,71-35 0,-194 35-15,-35 0-1,70 0 32,-71 0-31,-52 0 15,0 0-15,-1 0-1,1 0 1,-1 0 0,-17-18-1,18 1 1,0 17 0,-18-18-1,17 18-15,1 0 31,-18-18 32,0 1-32,0-1 0,0 1 1,0-1-17,0 0-15,0-88 32,0 36-17,0 35-15,0-71 16,0 18-1,0 35 17,0 17-32,18-17 15,-18-17 1,0 52-16,0 1 16,0-1-1,0 0 1,-36 18 124,19 0-108,-1 0-17,0 0-15,-17 0 16,-18 0 0,0 0-1,-52 0 1,34 0-1,18 0 17,18 0-32,-18 0 15,-35 0 1,35 0 0,-18 0-1,36 0 1,-36 0-1,36 0 17,-35 0-1,34 0-15,1 0-1,0 0 16,17 0 1,-17 0-17,17 0 17,-17 0-17,17 0 95,1 0-95,-1 0 48,0 0-16,1 0-16,-1 0-16,0 0 17,-17 0-17,53 0 110,-1 0-109</inkml:trace>
  <inkml:trace contextRef="#ctx0" brushRef="#br0" timeOffset="19255.33">15963 9419 0,'0'18'625,"0"17"-609,0 18-1,0-18-15,0 18 16,0 18 15,0-36-15,0 0-16,0-17 15,0 35 1,0-71 93,0 1-93,0-1 0,0-17-1,-17-1 1,-1 19-1,18-1 1,-18-17 0,1 35-1,-1-18 1,18 1-16,-18 17 47,1 0-32,-1 0 1,0 0 0,1 0 46,17 17-15,-35 1-31,35-1-16,-18 1 15,0 35 17,18-35-17,0-1 1,0 1-1,0 0 1,0-1 0,0 1-1,0-1 1,18 1 0,0 0-1,-1-18 16,18 0-15,-17 0 0,17 0-1,1-18 1,-1 0 15,-17 18 0,17 0-15,-18 0 15,1 0-15</inkml:trace>
  <inkml:trace contextRef="#ctx0" brushRef="#br0" timeOffset="25417.31">17815 13335 0,'71'53'266,"17"35"-251,53 0 1,-35 0-1,-71-52 1,18 17 15,-35-36-31,70 1 16,-35 17 0,17 1-1,-34-1 1,17 0-1,-18 0 1,-17-35 0,-1 0 15,1 0 0</inkml:trace>
  <inkml:trace contextRef="#ctx0" brushRef="#br0" timeOffset="27700.58">18715 13952 0,'35'0'328,"89"0"-312,17 0 0,-18 0-1,-52 0 1,-1 0 0,-52 0-16,52 0 15,-17 0 1,-17 0-1,-1 0 1,-17 0 0,-1 0-1,1 0 1,0 0 15,-18 36 63,0-1-78,0 18-1,0 35 1,0-35-1,0 35 1,0-35 0,0 18 15,0-18-15,0-36-1,0 1-15,-18 17 16,18-17-1,0-1 1,0 1 0,-18-18 15,1 0 0,-1 0-15,0 0-1,1 0 1,-19 0 0,1 0-1,-18 0-15,-53 0 16,-52 0 0,69 0-1,19 0-15,17-18 0,-106 18 16,53 0 15,53 0-31,1 0 16,-19 0-1,18 0 1,0 0 0,18 0-1,0 0 16,17 0-15,0 0 0,1 0-1,17-17 95,0-1-95,0-17 1,0-18 0,17 0-1,-17-123 1,0 105-1,0-17 1,0 70-16,0-35 16,0 18-1,0 0 1,0 17 15,0 0 0,18 18-15,0 0 47,-1 0-32,1 0 0,0 0-15,-1 18-1,1-18 17,17 0-17,0 0 1,18 0-1,-17 0 1,16 0 0,-34 0-16,35 0 15,-35 0 1,17 0 0,0 0-1,-17 0 1,-1 0-1,19 0 1</inkml:trace>
  <inkml:trace contextRef="#ctx0" brushRef="#br0" timeOffset="30646.67">16898 8996 0,'-494'-194'203,"-282"-36"-187,511 178 0,89 34-1,88 18 1,17 0-1,36 18 1,17-1 15,1-17-31,-54 53 32,54 0-17,-1-18-15,-17 54 16,-1-37-1,36-16-15,-53 87 16,36-17 0,17 17-1,0 142 1,53-141 15,70 105-15,-35-53-1,36-35 1,-54-70-16,36 17 16,71 0-1,-89-35-15,71 0 16,-1-35 0,36-18-1,36-53 1,-72 0-1,72-35 1,-89 17 0,-53 18 15,-53 36-31,124-89 16,-53-18-1,-18 1 1,-35-18-1,-35 70-15,35-88 16,-53 18 15,0 88-31,-106-229 16,18 141 15,35 71-31,-194-160 16,88 142 15,53 53-15,0 35 15,71 0-31,-36 0 16,1 0-1</inkml:trace>
  <inkml:trace contextRef="#ctx0" brushRef="#br0" timeOffset="37466.19">17921 12224 0,'-18'0'172,"-158"0"-157,53 0 1,-142 0 0,142 0 15,-107 35 0,195-17-31,-36-1 16,36 1-1,-18 0 1,0 34 0,36-34-1,-19 17 1,19-17 0,-19 35-16,1 35 31,-18-35-31,18 53 15,-18 0 1,18-18 0,17 53 15,18-106-31,0 1 16,0 34-1,0-35 1,35 36-1,1-18 1,34 0 0,1 17-1,-18-34 1,-18-19-16,36 19 16,52-36-1,-17 17 1,106-17-1,-107-53 1,72 0 0,-36-52-1,18-1 1,-36 35 0,-52 36-1,-36 17 1,18-17-16,35 17 31,-53-17-15,18-18-1,-17 18 1,-19 0 15,1 17-31,-18-17 16,0 17-16,0 0 15,0-17 17,-18 17-32,1 1 15,-54-36 1,-17 18 0,-36-1-1,71 19 1,-52 17-1,69 0 1,1 0 0,17 0-16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128" y="459900"/>
            <a:ext cx="1892872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45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3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2017059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9" y="444729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29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626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4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443755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1" y="4814048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0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177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7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8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6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19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8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1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8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1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9881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5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8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11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1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4" y="4267201"/>
            <a:ext cx="36576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2" y="4953001"/>
            <a:ext cx="3296023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5" y="594360"/>
            <a:ext cx="36576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3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501810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6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5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21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79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5" y="473076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2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57946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8" y="2133601"/>
            <a:ext cx="9435663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4" y="6437033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79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040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default.asp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ref_attributes.asp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6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847189"/>
              </p:ext>
            </p:extLst>
          </p:nvPr>
        </p:nvGraphicFramePr>
        <p:xfrm>
          <a:off x="2000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Sazid Uddin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79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dirty="0">
                <a:solidFill>
                  <a:prstClr val="white"/>
                </a:solidFill>
                <a:latin typeface="Calibri"/>
              </a:rPr>
              <a:t>Course Title: </a:t>
            </a:r>
            <a:r>
              <a:rPr lang="en-US" altLang="en-US" dirty="0">
                <a:solidFill>
                  <a:prstClr val="white"/>
                </a:solidFill>
                <a:latin typeface="Calibri"/>
              </a:rPr>
              <a:t>WEB TECHNOLOGIES</a:t>
            </a:r>
            <a:endParaRPr lang="en-US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61788" y="2049390"/>
            <a:ext cx="98188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stands for Hyper Text Markup Language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describes the structure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of a Web page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consists of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a series of elements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elements tell the browser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how to display the content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elements are represented by tags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tags label pieces of content such as ”heading”,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”paragraph”, ”table”, and so 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Browsers do not display the HTML tags, but use them to render the content of the page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first version of HTML was written by Tim Berners-Lee in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1993</a:t>
            </a:r>
          </a:p>
        </p:txBody>
      </p:sp>
    </p:spTree>
    <p:extLst>
      <p:ext uri="{BB962C8B-B14F-4D97-AF65-F5344CB8AC3E}">
        <p14:creationId xmlns:p14="http://schemas.microsoft.com/office/powerpoint/2010/main" val="373489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08164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None/>
            </a:pPr>
            <a:r>
              <a:rPr lang="en-US" sz="4200">
                <a:solidFill>
                  <a:prstClr val="white"/>
                </a:solidFill>
                <a:latin typeface="Corbel"/>
              </a:rPr>
              <a:t>HTML Tags and Example</a:t>
            </a:r>
            <a:endParaRPr lang="en-US" sz="4200" b="1">
              <a:solidFill>
                <a:prstClr val="white"/>
              </a:solidFill>
              <a:latin typeface="Corbe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927412" y="2151063"/>
            <a:ext cx="3931920" cy="397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HTML tags are element names surrounded by angle brackets:</a:t>
            </a: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&lt;tagname&gt;content goes here...&lt;/tagname&gt;</a:t>
            </a: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endParaRPr lang="en-US" sz="2200">
              <a:solidFill>
                <a:prstClr val="black">
                  <a:lumMod val="85000"/>
                  <a:lumOff val="15000"/>
                </a:prstClr>
              </a:solidFill>
              <a:latin typeface="Calibri"/>
            </a:endParaRP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endParaRPr lang="en-US" sz="2200">
              <a:solidFill>
                <a:prstClr val="black">
                  <a:lumMod val="85000"/>
                  <a:lumOff val="15000"/>
                </a:prstClr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10886D-C5AD-DBB1-B438-7D1E61481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990" y="1853106"/>
            <a:ext cx="5008263" cy="39061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HTML Documents = Web Pages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859495" y="1795817"/>
            <a:ext cx="8445464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describe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web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pages</a:t>
            </a:r>
            <a:endParaRPr lang="en-US" altLang="en-US" sz="2400" u="sng" kern="0" dirty="0">
              <a:solidFill>
                <a:srgbClr val="183883"/>
              </a:solidFill>
              <a:latin typeface="Arial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contain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HTML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tags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 and plain text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are also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called web pages</a:t>
            </a:r>
            <a:endParaRPr lang="en-US" altLang="en-US" sz="2400" u="sng" kern="0" dirty="0">
              <a:solidFill>
                <a:srgbClr val="183883"/>
              </a:solidFill>
              <a:latin typeface="Arial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e.g.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–"/>
            </a:pP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&lt;html&gt;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&lt;body&gt;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	&lt;h1&gt;My First Heading&lt;/h1&gt;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	&lt;p&gt;My first paragraph.&lt;/p&gt;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&lt;/body&gt;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160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28BC-B5EB-EF85-AA4D-8330C8D9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3B90E41-B21E-4EE3-060D-CF0DF7CF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164" y="630382"/>
            <a:ext cx="8574087" cy="967840"/>
          </a:xfrm>
        </p:spPr>
        <p:txBody>
          <a:bodyPr/>
          <a:lstStyle/>
          <a:p>
            <a:r>
              <a:rPr lang="en-US" dirty="0"/>
              <a:t>HTML Version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43462D-A81B-D7AA-72C2-02CEF3525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360559"/>
              </p:ext>
            </p:extLst>
          </p:nvPr>
        </p:nvGraphicFramePr>
        <p:xfrm>
          <a:off x="1808162" y="1598222"/>
          <a:ext cx="8712354" cy="519742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05235">
                  <a:extLst>
                    <a:ext uri="{9D8B030D-6E8A-4147-A177-3AD203B41FA5}">
                      <a16:colId xmlns:a16="http://schemas.microsoft.com/office/drawing/2014/main" val="4143853675"/>
                    </a:ext>
                  </a:extLst>
                </a:gridCol>
                <a:gridCol w="601385">
                  <a:extLst>
                    <a:ext uri="{9D8B030D-6E8A-4147-A177-3AD203B41FA5}">
                      <a16:colId xmlns:a16="http://schemas.microsoft.com/office/drawing/2014/main" val="1298420453"/>
                    </a:ext>
                  </a:extLst>
                </a:gridCol>
                <a:gridCol w="706626">
                  <a:extLst>
                    <a:ext uri="{9D8B030D-6E8A-4147-A177-3AD203B41FA5}">
                      <a16:colId xmlns:a16="http://schemas.microsoft.com/office/drawing/2014/main" val="979476174"/>
                    </a:ext>
                  </a:extLst>
                </a:gridCol>
                <a:gridCol w="661523">
                  <a:extLst>
                    <a:ext uri="{9D8B030D-6E8A-4147-A177-3AD203B41FA5}">
                      <a16:colId xmlns:a16="http://schemas.microsoft.com/office/drawing/2014/main" val="1761313274"/>
                    </a:ext>
                  </a:extLst>
                </a:gridCol>
                <a:gridCol w="5737585">
                  <a:extLst>
                    <a:ext uri="{9D8B030D-6E8A-4147-A177-3AD203B41FA5}">
                      <a16:colId xmlns:a16="http://schemas.microsoft.com/office/drawing/2014/main" val="1570501700"/>
                    </a:ext>
                  </a:extLst>
                </a:gridCol>
              </a:tblGrid>
              <a:tr h="268906">
                <a:tc>
                  <a:txBody>
                    <a:bodyPr/>
                    <a:lstStyle/>
                    <a:p>
                      <a:r>
                        <a:rPr lang="en-US" sz="1800" b="1" dirty="0"/>
                        <a:t>Type of content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HTML 1.2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HTML 4.01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HTML5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Purpose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259079"/>
                  </a:ext>
                </a:extLst>
              </a:tr>
              <a:tr h="466997">
                <a:tc>
                  <a:txBody>
                    <a:bodyPr/>
                    <a:lstStyle/>
                    <a:p>
                      <a:r>
                        <a:rPr lang="en-US" sz="1800"/>
                        <a:t>Heading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page content by adding headings and subheadings to the top of each section of the page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384041598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Paragraph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Identify paragraphs of text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636084251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Address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Identify a block of text that contains contact information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08179719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Anchor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Link to other web content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3696347715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List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items into a list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218228897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Image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Embed a photograph or drawing into a web page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24549188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Table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data into rows and columns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58441221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Style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CSS to control how objects on a web page are presented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696354100"/>
                  </a:ext>
                </a:extLst>
              </a:tr>
              <a:tr h="466997">
                <a:tc>
                  <a:txBody>
                    <a:bodyPr/>
                    <a:lstStyle/>
                    <a:p>
                      <a:r>
                        <a:rPr lang="en-US" sz="1800"/>
                        <a:t>Script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Javascript to make pages respond to user behaviors (more interactive)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77827422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Audio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audio to a web page with a single tag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816021753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Video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Add video to a web page with a single tag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658317924"/>
                  </a:ext>
                </a:extLst>
              </a:tr>
              <a:tr h="665089">
                <a:tc>
                  <a:txBody>
                    <a:bodyPr/>
                    <a:lstStyle/>
                    <a:p>
                      <a:r>
                        <a:rPr lang="en-US" sz="1800"/>
                        <a:t>Canvas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Add an invisible drawing pad to a web page, on which you can add drawings (animations, games, and other interactive features) using </a:t>
                      </a:r>
                      <a:r>
                        <a:rPr lang="en-US" sz="1800" dirty="0" err="1"/>
                        <a:t>Javascript</a:t>
                      </a:r>
                      <a:endParaRPr lang="en-US" sz="1800" dirty="0"/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3771915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778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Tags and 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07773" y="2435898"/>
            <a:ext cx="791609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An HTML element usually consists of a </a:t>
            </a:r>
            <a:r>
              <a:rPr lang="en-US" sz="2800" b="1" dirty="0"/>
              <a:t>start</a:t>
            </a:r>
            <a:r>
              <a:rPr lang="en-US" sz="2800" dirty="0"/>
              <a:t> tag and an </a:t>
            </a:r>
            <a:r>
              <a:rPr lang="en-US" sz="2800" b="1" dirty="0"/>
              <a:t>end</a:t>
            </a:r>
            <a:r>
              <a:rPr lang="en-US" sz="2800" dirty="0"/>
              <a:t> tag, with the content inserted in between.</a:t>
            </a:r>
            <a:endParaRPr lang="en-US" altLang="en-US" dirty="0"/>
          </a:p>
          <a:p>
            <a:r>
              <a:rPr lang="en-US" dirty="0"/>
              <a:t>Please explore all Elements from </a:t>
            </a:r>
            <a:r>
              <a:rPr lang="en-US" dirty="0">
                <a:hlinkClick r:id="rId2"/>
              </a:rPr>
              <a:t>https://www.w3schools.com/</a:t>
            </a:r>
            <a:r>
              <a:rPr lang="en-US" dirty="0"/>
              <a:t> one by one.</a:t>
            </a:r>
            <a:endParaRPr lang="x-none" dirty="0"/>
          </a:p>
          <a:p>
            <a:r>
              <a:rPr lang="en-US" dirty="0">
                <a:hlinkClick r:id="rId3"/>
              </a:rPr>
              <a:t>https://www.w3schools.com/tags/default.asp</a:t>
            </a:r>
            <a:endParaRPr 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208831"/>
              </p:ext>
            </p:extLst>
          </p:nvPr>
        </p:nvGraphicFramePr>
        <p:xfrm>
          <a:off x="2557462" y="4623035"/>
          <a:ext cx="7077075" cy="1449384"/>
        </p:xfrm>
        <a:graphic>
          <a:graphicData uri="http://schemas.openxmlformats.org/drawingml/2006/table">
            <a:tbl>
              <a:tblPr/>
              <a:tblGrid>
                <a:gridCol w="235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Start tag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Element content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End tag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&lt;h1&gt;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Heading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&lt;/h1&gt;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&lt;p&gt;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paragraph.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&lt;/p&gt;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&lt;br&gt;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20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592317" y="2270234"/>
            <a:ext cx="86315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All HTML elements can have attributes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provide additional information about an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are always specified in the start tag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usually come in name/value pairs like: name="value“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Example : HTML links are defined with the &lt;a&gt; tag. The link address is specified in the </a:t>
            </a:r>
            <a:r>
              <a:rPr lang="en-US" sz="2000" dirty="0" err="1"/>
              <a:t>href</a:t>
            </a:r>
            <a:r>
              <a:rPr lang="en-US" sz="2000" dirty="0"/>
              <a:t> attribute.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A52A2A"/>
                </a:solidFill>
                <a:latin typeface="Consolas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href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="https://www.aiub.edu"&gt;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AIUB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A52A2A"/>
                </a:solidFill>
                <a:latin typeface="Consolas"/>
              </a:rPr>
              <a:t>/a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 err="1">
                <a:solidFill>
                  <a:srgbClr val="A52A2A"/>
                </a:solidFill>
                <a:latin typeface="Consolas"/>
              </a:rPr>
              <a:t>img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src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="img_girl.jpg"&gt;</a:t>
            </a: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Please explore all Elements/ Tags/ attributes from </a:t>
            </a:r>
            <a:r>
              <a:rPr lang="en-US" sz="2000" dirty="0">
                <a:hlinkClick r:id="rId2"/>
              </a:rPr>
              <a:t>https://www.w3schools.com/tags/ref_attributes.asp</a:t>
            </a: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x-none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64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385D-A5F0-E3B0-EBE5-5540640E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B7D9-DD14-6B17-2247-FB87653AD6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Popular HTML 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9D383-43BF-D9BE-A318-BE90B8740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433F2-935B-61F2-80F8-4D77725FC724}"/>
              </a:ext>
            </a:extLst>
          </p:cNvPr>
          <p:cNvSpPr txBox="1"/>
          <p:nvPr/>
        </p:nvSpPr>
        <p:spPr>
          <a:xfrm>
            <a:off x="342900" y="1981792"/>
            <a:ext cx="1010963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1. Favicon</a:t>
            </a:r>
          </a:p>
          <a:p>
            <a:r>
              <a:rPr lang="en-US" sz="2200" dirty="0"/>
              <a:t>A small icon displayed in the browser tab or bookmark. Added using the &lt;link&gt; tag in the &lt;head&gt; section:</a:t>
            </a:r>
          </a:p>
          <a:p>
            <a:r>
              <a:rPr lang="en-US" sz="2200" dirty="0"/>
              <a:t>&lt;head&gt;&lt;link </a:t>
            </a:r>
            <a:r>
              <a:rPr lang="en-US" sz="2200" dirty="0" err="1"/>
              <a:t>rel</a:t>
            </a:r>
            <a:r>
              <a:rPr lang="en-US" sz="2200" dirty="0"/>
              <a:t>="icon" type="image/x-icon" </a:t>
            </a:r>
            <a:r>
              <a:rPr lang="en-US" sz="2200" dirty="0" err="1"/>
              <a:t>href</a:t>
            </a:r>
            <a:r>
              <a:rPr lang="en-US" sz="2200" dirty="0"/>
              <a:t>="favicon.ico"&gt;&lt;/head&gt;</a:t>
            </a:r>
          </a:p>
          <a:p>
            <a:r>
              <a:rPr lang="en-US" sz="2200" b="1" dirty="0"/>
              <a:t>2. Page Title</a:t>
            </a:r>
          </a:p>
          <a:p>
            <a:r>
              <a:rPr lang="en-US" sz="2200" dirty="0"/>
              <a:t>The title of the webpage displayed in the browser tab or window. Defined using the &lt;title&gt; tag within the &lt;head&gt; section.</a:t>
            </a:r>
          </a:p>
          <a:p>
            <a:r>
              <a:rPr lang="en-US" sz="2200" dirty="0"/>
              <a:t>&lt;head&gt;&lt;title&gt;My Webpage Title&lt;/title&gt;&lt;/head&gt;</a:t>
            </a:r>
          </a:p>
          <a:p>
            <a:r>
              <a:rPr lang="en-US" sz="2200" b="1" dirty="0"/>
              <a:t>3. HTML Head</a:t>
            </a:r>
          </a:p>
          <a:p>
            <a:r>
              <a:rPr lang="en-US" sz="2200" dirty="0"/>
              <a:t>The &lt;head&gt; section contains metadata and links to external resources.</a:t>
            </a:r>
          </a:p>
          <a:p>
            <a:endParaRPr lang="en-US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7CC0C-DC9C-676E-A90C-B412162A7A5F}"/>
              </a:ext>
            </a:extLst>
          </p:cNvPr>
          <p:cNvSpPr txBox="1"/>
          <p:nvPr/>
        </p:nvSpPr>
        <p:spPr>
          <a:xfrm>
            <a:off x="342900" y="5325573"/>
            <a:ext cx="6130578" cy="15696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&lt;head&gt;</a:t>
            </a:r>
          </a:p>
          <a:p>
            <a:r>
              <a:rPr lang="en-US" sz="1600" dirty="0"/>
              <a:t>  &lt;title&gt;Page Title&lt;/title&gt;</a:t>
            </a:r>
          </a:p>
          <a:p>
            <a:r>
              <a:rPr lang="en-US" sz="1600" dirty="0"/>
              <a:t>  &lt;meta charset="UTF-8"&gt;</a:t>
            </a:r>
          </a:p>
          <a:p>
            <a:r>
              <a:rPr lang="en-US" sz="1600" dirty="0"/>
              <a:t>  &lt;meta name="description" content="Page Description"&gt;</a:t>
            </a:r>
          </a:p>
          <a:p>
            <a:r>
              <a:rPr lang="en-US" sz="1600" dirty="0"/>
              <a:t>  &lt;link </a:t>
            </a:r>
            <a:r>
              <a:rPr lang="en-US" sz="1600" dirty="0" err="1"/>
              <a:t>rel</a:t>
            </a:r>
            <a:r>
              <a:rPr lang="en-US" sz="1600" dirty="0"/>
              <a:t>="stylesheet" </a:t>
            </a:r>
            <a:r>
              <a:rPr lang="en-US" sz="1600" dirty="0" err="1"/>
              <a:t>href</a:t>
            </a:r>
            <a:r>
              <a:rPr lang="en-US" sz="1600" dirty="0"/>
              <a:t>="styles.css"&gt;</a:t>
            </a:r>
          </a:p>
          <a:p>
            <a:r>
              <a:rPr lang="en-US" sz="1600"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3962027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CE9E-8923-3CFA-D7F6-AE019A7B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36958-C93D-3EAE-0259-6F5A46E47866}"/>
              </a:ext>
            </a:extLst>
          </p:cNvPr>
          <p:cNvSpPr txBox="1"/>
          <p:nvPr/>
        </p:nvSpPr>
        <p:spPr>
          <a:xfrm>
            <a:off x="489244" y="1752803"/>
            <a:ext cx="1050377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 Table</a:t>
            </a:r>
          </a:p>
          <a:p>
            <a:r>
              <a:rPr lang="en-US" sz="2200" dirty="0"/>
              <a:t>Used to display data in rows and columns.</a:t>
            </a:r>
          </a:p>
          <a:p>
            <a:endParaRPr lang="en-US" sz="2200" dirty="0"/>
          </a:p>
          <a:p>
            <a:r>
              <a:rPr lang="en-US" sz="2200" dirty="0"/>
              <a:t>&lt;table&gt;</a:t>
            </a:r>
          </a:p>
          <a:p>
            <a:r>
              <a:rPr lang="en-US" sz="2200" dirty="0"/>
              <a:t>  &lt;tr&gt;</a:t>
            </a:r>
          </a:p>
          <a:p>
            <a:r>
              <a:rPr lang="en-US" sz="2200" dirty="0"/>
              <a:t>    &lt;</a:t>
            </a:r>
            <a:r>
              <a:rPr lang="en-US" sz="2200" dirty="0" err="1"/>
              <a:t>th</a:t>
            </a:r>
            <a:r>
              <a:rPr lang="en-US" sz="2200" dirty="0"/>
              <a:t>&gt;Header 1&lt;/</a:t>
            </a:r>
            <a:r>
              <a:rPr lang="en-US" sz="2200" dirty="0" err="1"/>
              <a:t>th</a:t>
            </a:r>
            <a:r>
              <a:rPr lang="en-US" sz="2200" dirty="0"/>
              <a:t>&gt;</a:t>
            </a:r>
          </a:p>
          <a:p>
            <a:r>
              <a:rPr lang="en-US" sz="2200" dirty="0"/>
              <a:t>    &lt;</a:t>
            </a:r>
            <a:r>
              <a:rPr lang="en-US" sz="2200" dirty="0" err="1"/>
              <a:t>th</a:t>
            </a:r>
            <a:r>
              <a:rPr lang="en-US" sz="2200" dirty="0"/>
              <a:t>&gt;Header 2&lt;/</a:t>
            </a:r>
            <a:r>
              <a:rPr lang="en-US" sz="2200" dirty="0" err="1"/>
              <a:t>th</a:t>
            </a:r>
            <a:r>
              <a:rPr lang="en-US" sz="2200" dirty="0"/>
              <a:t>&gt;</a:t>
            </a:r>
          </a:p>
          <a:p>
            <a:r>
              <a:rPr lang="en-US" sz="2200" dirty="0"/>
              <a:t>  &lt;/tr&gt;</a:t>
            </a:r>
          </a:p>
          <a:p>
            <a:r>
              <a:rPr lang="en-US" sz="2200" dirty="0"/>
              <a:t>  &lt;tr&gt;</a:t>
            </a:r>
          </a:p>
          <a:p>
            <a:r>
              <a:rPr lang="en-US" sz="2200" dirty="0"/>
              <a:t>    &lt;td&gt;Data 1&lt;/td&gt;</a:t>
            </a:r>
          </a:p>
          <a:p>
            <a:r>
              <a:rPr lang="en-US" sz="2200" dirty="0"/>
              <a:t>    &lt;td&gt;Data 2&lt;/td&gt;</a:t>
            </a:r>
          </a:p>
          <a:p>
            <a:r>
              <a:rPr lang="en-US" sz="2200" dirty="0"/>
              <a:t>  &lt;/tr&gt;</a:t>
            </a:r>
          </a:p>
          <a:p>
            <a:r>
              <a:rPr lang="en-US" sz="2200" dirty="0"/>
              <a:t>&lt;/table&gt;</a:t>
            </a:r>
          </a:p>
          <a:p>
            <a:endParaRPr lang="en-US" sz="2200" dirty="0"/>
          </a:p>
          <a:p>
            <a:r>
              <a:rPr lang="en-US" sz="2200" dirty="0"/>
              <a:t>Tags: &lt;table&gt;, &lt;tr&gt; (table row), &lt;</a:t>
            </a:r>
            <a:r>
              <a:rPr lang="en-US" sz="2200" dirty="0" err="1"/>
              <a:t>th</a:t>
            </a:r>
            <a:r>
              <a:rPr lang="en-US" sz="2200" dirty="0"/>
              <a:t>&gt; (table header), &lt;td&gt; (table data).</a:t>
            </a:r>
          </a:p>
        </p:txBody>
      </p:sp>
    </p:spTree>
    <p:extLst>
      <p:ext uri="{BB962C8B-B14F-4D97-AF65-F5344CB8AC3E}">
        <p14:creationId xmlns:p14="http://schemas.microsoft.com/office/powerpoint/2010/main" val="77415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950C-9F3D-75B9-3FB9-A039C56E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BC85-CEBB-CD73-243C-D0A6CCC39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XML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1E15910-2716-A2DD-4925-9E4A21D54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2B256E-5AFD-942B-640C-C97FA078E355}"/>
              </a:ext>
            </a:extLst>
          </p:cNvPr>
          <p:cNvSpPr txBox="1"/>
          <p:nvPr/>
        </p:nvSpPr>
        <p:spPr>
          <a:xfrm>
            <a:off x="2307772" y="2049390"/>
            <a:ext cx="8072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stands for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eXtensible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Markup Language.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was designed to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store and transport data.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was designed to be both human- and machine-readable.</a:t>
            </a:r>
          </a:p>
        </p:txBody>
      </p:sp>
      <p:pic>
        <p:nvPicPr>
          <p:cNvPr id="6" name="Picture 2" descr="E:\Spring 2019-2020\Web Tech\Silde Web Tech\XML-Document-for-Students-Courses.png">
            <a:extLst>
              <a:ext uri="{FF2B5EF4-FFF2-40B4-BE49-F238E27FC236}">
                <a16:creationId xmlns:a16="http://schemas.microsoft.com/office/drawing/2014/main" id="{108B1D68-81B8-C171-E08D-701CBF078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81401"/>
            <a:ext cx="4319588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542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What is XML?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307772" y="2049390"/>
            <a:ext cx="80728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was designed to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carry data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not to display data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tags are not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predefined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. You must define your own tags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designed to be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self-descriptive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a W3C Recommendation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Maybe it is a little hard to understand, but XML does not DO anything. XML was created to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structure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store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and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transport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 information.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the most common tool for data transmissions between all sorts of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80173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530326" y="747007"/>
            <a:ext cx="8869681" cy="171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XML Documents Form a Tree Structure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XML documents must contain a root element. This element is "the parent" of all other elements.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The elements in an XML document form a document tree.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148" y="2773906"/>
            <a:ext cx="6396038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863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XML Naming Rules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634831" y="1283034"/>
            <a:ext cx="88696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elements must follow these naming rules: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 contain letters, numbers, and other characters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start with a number or punctuation character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start with the letters xml (or XML, or Xml, </a:t>
            </a:r>
            <a:r>
              <a:rPr lang="en-US" altLang="en-US" sz="2400" dirty="0" err="1">
                <a:solidFill>
                  <a:srgbClr val="FF0000"/>
                </a:solidFill>
                <a:latin typeface="Calibri"/>
              </a:rPr>
              <a:t>etc</a:t>
            </a:r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)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contain spaces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Any name can be used, no words are reserved.</a:t>
            </a:r>
          </a:p>
          <a:p>
            <a:endParaRPr lang="en-US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859494" y="371820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XML Syntax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749992" y="4184009"/>
            <a:ext cx="88696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All XML Elements Must Have a Closing Tag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Tags are Case Sensitive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Elements Must be Properly Nested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Documents Must Have a Root Element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Attribute Values Must be Quoted</a:t>
            </a:r>
          </a:p>
        </p:txBody>
      </p:sp>
    </p:spTree>
    <p:extLst>
      <p:ext uri="{BB962C8B-B14F-4D97-AF65-F5344CB8AC3E}">
        <p14:creationId xmlns:p14="http://schemas.microsoft.com/office/powerpoint/2010/main" val="3361780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What is the DOM?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307772" y="2049390"/>
            <a:ext cx="80728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a standard for accessing documents like XML and HTML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"The W3C Document Object Model (DOM) is a platform and language-neutral interface that allows programs and scripts to dynamically access and update the content, structure, and style of a document."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DOM is separated into 3 different parts / levels: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Core DOM - standard model for any structured document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DOM - standard model for XML documents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DOM - standard model for HTML documents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DOM defines the objects and properties of all document elements, and the methods (interface) to access them.</a:t>
            </a:r>
          </a:p>
        </p:txBody>
      </p:sp>
    </p:spTree>
    <p:extLst>
      <p:ext uri="{BB962C8B-B14F-4D97-AF65-F5344CB8AC3E}">
        <p14:creationId xmlns:p14="http://schemas.microsoft.com/office/powerpoint/2010/main" val="1116609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DOM application and Example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634831" y="1283034"/>
            <a:ext cx="88696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When an HTML page is rendered in a browser, the browser parses the markup (e.g. HTML), downloaded from the web-server into an in-memory DOM.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Calibri"/>
              </a:rPr>
              <a:t>The DOM is used to construct additional internal structures used to display the page in the browser window.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77803C-6484-110C-F87A-50BEE09A00A3}"/>
              </a:ext>
            </a:extLst>
          </p:cNvPr>
          <p:cNvGrpSpPr/>
          <p:nvPr/>
        </p:nvGrpSpPr>
        <p:grpSpPr>
          <a:xfrm>
            <a:off x="2523109" y="3429000"/>
            <a:ext cx="7145781" cy="3208925"/>
            <a:chOff x="101246" y="2233738"/>
            <a:chExt cx="8723788" cy="396815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B35467B-2141-34FA-9A1E-467D4D7A4D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152905" y="2233738"/>
              <a:ext cx="5672129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93D3129-EB5F-AC09-9142-975389EDB9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1246" y="2233738"/>
              <a:ext cx="6007738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EBF155-3F01-A433-26C2-8C9BE12D7CA4}"/>
                  </a:ext>
                </a:extLst>
              </p14:cNvPr>
              <p14:cNvContentPartPr/>
              <p14:nvPr/>
            </p14:nvContentPartPr>
            <p14:xfrm>
              <a:off x="5295960" y="3029040"/>
              <a:ext cx="1746720" cy="2229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EBF155-3F01-A433-26C2-8C9BE12D7C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86600" y="3019680"/>
                <a:ext cx="1765440" cy="224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6692732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1272</Words>
  <Application>Microsoft Office PowerPoint</Application>
  <PresentationFormat>Widescreen</PresentationFormat>
  <Paragraphs>198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Corbel</vt:lpstr>
      <vt:lpstr>Wingdings</vt:lpstr>
      <vt:lpstr>Spectrum</vt:lpstr>
      <vt:lpstr>HTML</vt:lpstr>
      <vt:lpstr>What is HTML?</vt:lpstr>
      <vt:lpstr>PowerPoint Presentation</vt:lpstr>
      <vt:lpstr>PowerPoint Presentation</vt:lpstr>
      <vt:lpstr>HTML Version</vt:lpstr>
      <vt:lpstr>HTML Tags and Elements</vt:lpstr>
      <vt:lpstr>HTML Attributes</vt:lpstr>
      <vt:lpstr>Popular HTML Elements</vt:lpstr>
      <vt:lpstr>HTML Table</vt:lpstr>
      <vt:lpstr>XML</vt:lpstr>
      <vt:lpstr>What is XML?</vt:lpstr>
      <vt:lpstr>PowerPoint Presentation</vt:lpstr>
      <vt:lpstr>PowerPoint Presentation</vt:lpstr>
      <vt:lpstr>What is the DOM?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Sazzad Hossain</dc:creator>
  <cp:lastModifiedBy>Md. Sazid Uddin</cp:lastModifiedBy>
  <cp:revision>29</cp:revision>
  <dcterms:created xsi:type="dcterms:W3CDTF">2025-03-09T06:56:01Z</dcterms:created>
  <dcterms:modified xsi:type="dcterms:W3CDTF">2025-11-12T11:16:06Z</dcterms:modified>
</cp:coreProperties>
</file>