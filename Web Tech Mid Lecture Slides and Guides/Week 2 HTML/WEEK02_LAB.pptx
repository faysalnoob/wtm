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9" r:id="rId3"/>
    <p:sldId id="270" r:id="rId4"/>
    <p:sldId id="318" r:id="rId5"/>
    <p:sldId id="320" r:id="rId6"/>
    <p:sldId id="299" r:id="rId7"/>
    <p:sldId id="298" r:id="rId8"/>
    <p:sldId id="275" r:id="rId9"/>
    <p:sldId id="273" r:id="rId10"/>
    <p:sldId id="32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8885" y="444729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378885" y="1906543"/>
            <a:ext cx="11435164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1788" y="449005"/>
            <a:ext cx="10411968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4940" y="1532427"/>
            <a:ext cx="10338816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378885" y="6227064"/>
            <a:ext cx="11432116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128" y="459900"/>
            <a:ext cx="1892872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452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8" name="Group 7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30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78885" y="444729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8883" y="2017059"/>
            <a:ext cx="11432116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894" y="1532965"/>
            <a:ext cx="10339045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378885" y="1906543"/>
            <a:ext cx="11435164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0974519" y="444729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8178" y="444729"/>
            <a:ext cx="10414623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06264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801576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0974519" y="4801576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024" y="4814125"/>
            <a:ext cx="103632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984" y="5861304"/>
            <a:ext cx="10314432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41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8883" y="443755"/>
            <a:ext cx="11432116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8885" y="4801576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0974519" y="4801576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41" y="4814048"/>
            <a:ext cx="103632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530" y="5862918"/>
            <a:ext cx="10309412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1777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9" name="Group 8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7883" y="2151063"/>
            <a:ext cx="524256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917" y="2151063"/>
            <a:ext cx="524256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75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11" name="Group 10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883" y="1735138"/>
            <a:ext cx="524256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883" y="2590800"/>
            <a:ext cx="524256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2660" y="1735138"/>
            <a:ext cx="524256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2660" y="2590800"/>
            <a:ext cx="524256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85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7" name="Group 6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6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78885" y="452719"/>
            <a:ext cx="982028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9166" y="55844"/>
            <a:ext cx="1705548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42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588" y="1298762"/>
            <a:ext cx="542544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8089" y="914401"/>
            <a:ext cx="542544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588" y="2456329"/>
            <a:ext cx="542544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78885" y="452719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2098819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801576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5" y="4800600"/>
            <a:ext cx="11146989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78884" y="457199"/>
            <a:ext cx="11436096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799" y="5367338"/>
            <a:ext cx="11072284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57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378885" y="4280648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5" y="4778189"/>
            <a:ext cx="11146989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78884" y="457200"/>
            <a:ext cx="11436096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799" y="5344927"/>
            <a:ext cx="11072284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8113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914401"/>
            <a:ext cx="6926729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78884" y="4267201"/>
            <a:ext cx="36576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802" y="4953001"/>
            <a:ext cx="3296023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686" y="4419600"/>
            <a:ext cx="3300527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378885" y="594360"/>
            <a:ext cx="36576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378885" y="461683"/>
            <a:ext cx="11435164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501810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028018" y="4801576"/>
            <a:ext cx="7782983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2215" y="4800600"/>
            <a:ext cx="7588868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28019" y="457199"/>
            <a:ext cx="7778496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074" y="5367338"/>
            <a:ext cx="7538009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378886" y="457200"/>
            <a:ext cx="3649133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378886" y="3364992"/>
            <a:ext cx="3649133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0214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8" name="Group 7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885" y="2133600"/>
            <a:ext cx="11432116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37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8074279" y="2668544"/>
            <a:ext cx="5934615" cy="1511932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0165" y="473076"/>
            <a:ext cx="1292352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885" y="457200"/>
            <a:ext cx="8663516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7200708" y="3332822"/>
            <a:ext cx="5934456" cy="183215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579465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5338" y="2133601"/>
            <a:ext cx="9435663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59915" y="643703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6264" y="6437033"/>
            <a:ext cx="8166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5279" y="167347"/>
            <a:ext cx="840828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885" y="630382"/>
            <a:ext cx="11432116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20404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html_forms_attributes.asp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html_form_input_types.asp" TargetMode="Externa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html_form_elements.asp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0206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 altLang="en-US" b="1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00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627127"/>
              </p:ext>
            </p:extLst>
          </p:nvPr>
        </p:nvGraphicFramePr>
        <p:xfrm>
          <a:off x="2000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Lab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Sazzad Hossain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4844579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</a:t>
            </a:r>
            <a:r>
              <a:rPr lang="en-US" altLang="en-US" dirty="0"/>
              <a:t>WEB TECHNOLOGIES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989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 Forms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307773" y="2435897"/>
            <a:ext cx="79160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 HTML &lt;form&gt; element defines a form that is used to collect user input.</a:t>
            </a:r>
          </a:p>
          <a:p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/>
              </a:rPr>
              <a:t>form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dirty="0"/>
            </a:br>
            <a:r>
              <a:rPr lang="en-US" i="1" dirty="0">
                <a:solidFill>
                  <a:srgbClr val="000000"/>
                </a:solidFill>
                <a:latin typeface="Consolas"/>
              </a:rPr>
              <a:t>form elements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/>
              </a:rPr>
              <a:t>/form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Form elements are different types of input elements, like: text fields, checkboxes, radio buttons, submit buttons, and more.</a:t>
            </a:r>
            <a:endParaRPr lang="x-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307772" y="4190223"/>
          <a:ext cx="7077074" cy="1915258"/>
        </p:xfrm>
        <a:graphic>
          <a:graphicData uri="http://schemas.openxmlformats.org/drawingml/2006/table">
            <a:tbl>
              <a:tblPr/>
              <a:tblGrid>
                <a:gridCol w="3538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8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Type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Description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&lt;input type="text"&gt;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Defines a single-line text input field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283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&lt;input type="radio"&gt;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Defines a radio button (for selecting one of many choices)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283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&lt;input type="submit"&gt;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Defines a submit button (for submitting the form)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562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514350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HTML Forms Example</a:t>
            </a:r>
          </a:p>
        </p:txBody>
      </p:sp>
      <p:pic>
        <p:nvPicPr>
          <p:cNvPr id="4098" name="Picture 2" descr="E:\Spring 2019-2020\Web Tech\Silde Web Tech\Back Up\HTML For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3102" y="2214432"/>
            <a:ext cx="34480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01C71F-BD8D-BAA6-1F97-4E769A882655}"/>
              </a:ext>
            </a:extLst>
          </p:cNvPr>
          <p:cNvSpPr txBox="1"/>
          <p:nvPr/>
        </p:nvSpPr>
        <p:spPr>
          <a:xfrm>
            <a:off x="514350" y="1224576"/>
            <a:ext cx="82296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submit_form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“ </a:t>
            </a:r>
            <a:r>
              <a:rPr lang="en-US" sz="1600" dirty="0">
                <a:solidFill>
                  <a:srgbClr val="E50000"/>
                </a:solidFill>
                <a:latin typeface="Consolas" panose="020B0609020204030204" pitchFamily="49" charset="0"/>
              </a:rPr>
              <a:t>method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“POST“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"first-name"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First name: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"first-name"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"first-name"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"last-name"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Last name: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"last-name"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"last-name"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E-mail: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"gender"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Gender: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"radio"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"gender"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Male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"radio"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"female"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"gender"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"female"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"female"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Female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"reset"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"Reset"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556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7277B-37FC-CE16-9CB3-F7F520EF2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1640D14C-8326-A8D4-B606-47E638E138FD}"/>
              </a:ext>
            </a:extLst>
          </p:cNvPr>
          <p:cNvSpPr txBox="1">
            <a:spLocks/>
          </p:cNvSpPr>
          <p:nvPr/>
        </p:nvSpPr>
        <p:spPr>
          <a:xfrm>
            <a:off x="514350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HTML Forms Attributes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B93C16-17C0-75E6-A27D-0F8A0BC194A5}"/>
              </a:ext>
            </a:extLst>
          </p:cNvPr>
          <p:cNvSpPr txBox="1"/>
          <p:nvPr/>
        </p:nvSpPr>
        <p:spPr>
          <a:xfrm>
            <a:off x="514350" y="1224576"/>
            <a:ext cx="111633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1. action</a:t>
            </a:r>
            <a:r>
              <a:rPr lang="en-US" sz="2200" dirty="0"/>
              <a:t>: Specifies the URL where the form data will be sent when the form is submitted. This is typically the server-side script that will process the data.</a:t>
            </a:r>
          </a:p>
          <a:p>
            <a:r>
              <a:rPr lang="en-US" sz="2200" dirty="0"/>
              <a:t>    Example: &lt;form action="/</a:t>
            </a:r>
            <a:r>
              <a:rPr lang="en-US" sz="2200" dirty="0" err="1"/>
              <a:t>submit_form</a:t>
            </a:r>
            <a:r>
              <a:rPr lang="en-US" sz="2200" dirty="0"/>
              <a:t>"&gt;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454FC1-3BF9-120B-D702-800F622BCC15}"/>
              </a:ext>
            </a:extLst>
          </p:cNvPr>
          <p:cNvSpPr txBox="1"/>
          <p:nvPr/>
        </p:nvSpPr>
        <p:spPr>
          <a:xfrm>
            <a:off x="514350" y="4402317"/>
            <a:ext cx="1097871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3. target</a:t>
            </a:r>
            <a:r>
              <a:rPr lang="en-US" sz="2200" dirty="0"/>
              <a:t>: Specifies where to display the response after submitting the form. Common values include:</a:t>
            </a:r>
          </a:p>
          <a:p>
            <a:r>
              <a:rPr lang="en-US" sz="2200" dirty="0"/>
              <a:t>    _self (default): Displays the response in the same window or tab.</a:t>
            </a:r>
          </a:p>
          <a:p>
            <a:r>
              <a:rPr lang="en-US" sz="2200" dirty="0"/>
              <a:t>    _blank: Opens the response in a new tab or window.</a:t>
            </a:r>
          </a:p>
          <a:p>
            <a:r>
              <a:rPr lang="en-US" sz="2200" dirty="0"/>
              <a:t>    _parent: Displays the response in the parent frame.</a:t>
            </a:r>
          </a:p>
          <a:p>
            <a:r>
              <a:rPr lang="en-US" sz="2200" dirty="0"/>
              <a:t>    _top: Displays the response in the full body of the window.</a:t>
            </a:r>
          </a:p>
          <a:p>
            <a:r>
              <a:rPr lang="en-US" sz="2200" dirty="0"/>
              <a:t>    Example: &lt;form target="_blank"&gt;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4AE6C1-3FC3-B9AC-B465-3029AEF496EC}"/>
              </a:ext>
            </a:extLst>
          </p:cNvPr>
          <p:cNvSpPr txBox="1"/>
          <p:nvPr/>
        </p:nvSpPr>
        <p:spPr>
          <a:xfrm>
            <a:off x="514350" y="2364104"/>
            <a:ext cx="1180837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2. </a:t>
            </a:r>
            <a:r>
              <a:rPr lang="en-US" sz="2200" b="1" dirty="0" err="1"/>
              <a:t>enctype</a:t>
            </a:r>
            <a:r>
              <a:rPr lang="en-US" sz="2200" dirty="0"/>
              <a:t>: Specifies the encoding type to use when submitting the form. This is required when submitting form data that includes files.</a:t>
            </a:r>
          </a:p>
          <a:p>
            <a:r>
              <a:rPr lang="en-US" sz="2200" dirty="0"/>
              <a:t>    </a:t>
            </a:r>
            <a:r>
              <a:rPr lang="en-US" sz="2200" b="1" dirty="0"/>
              <a:t>application/x-www-form-</a:t>
            </a:r>
            <a:r>
              <a:rPr lang="en-US" sz="2200" b="1" dirty="0" err="1"/>
              <a:t>urlencoded</a:t>
            </a:r>
            <a:r>
              <a:rPr lang="en-US" sz="2200" b="1" dirty="0"/>
              <a:t>: </a:t>
            </a:r>
            <a:r>
              <a:rPr lang="en-US" sz="2200" dirty="0"/>
              <a:t>Default encoding type for text data.</a:t>
            </a:r>
          </a:p>
          <a:p>
            <a:r>
              <a:rPr lang="en-US" sz="2200" b="1" dirty="0"/>
              <a:t>    multipart/form-data: </a:t>
            </a:r>
            <a:r>
              <a:rPr lang="en-US" sz="2200" dirty="0"/>
              <a:t>Required for forms that upload files.</a:t>
            </a:r>
          </a:p>
          <a:p>
            <a:r>
              <a:rPr lang="en-US" sz="2200" b="1" dirty="0"/>
              <a:t>    text/plain: </a:t>
            </a:r>
            <a:r>
              <a:rPr lang="en-US" sz="2200" dirty="0"/>
              <a:t>Sends data as plain text.</a:t>
            </a:r>
          </a:p>
          <a:p>
            <a:r>
              <a:rPr lang="en-US" sz="2200" dirty="0"/>
              <a:t>    Example: &lt;form </a:t>
            </a:r>
            <a:r>
              <a:rPr lang="en-US" sz="2200" dirty="0" err="1"/>
              <a:t>enctype</a:t>
            </a:r>
            <a:r>
              <a:rPr lang="en-US" sz="2200" dirty="0"/>
              <a:t>="multipart/form-data"&gt;</a:t>
            </a:r>
          </a:p>
        </p:txBody>
      </p:sp>
    </p:spTree>
    <p:extLst>
      <p:ext uri="{BB962C8B-B14F-4D97-AF65-F5344CB8AC3E}">
        <p14:creationId xmlns:p14="http://schemas.microsoft.com/office/powerpoint/2010/main" val="2261603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3C03E-FA25-E1E5-ACCB-C060BEDA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280712FD-11F8-E198-F5B5-14C51EEFC998}"/>
              </a:ext>
            </a:extLst>
          </p:cNvPr>
          <p:cNvSpPr txBox="1">
            <a:spLocks/>
          </p:cNvSpPr>
          <p:nvPr/>
        </p:nvSpPr>
        <p:spPr>
          <a:xfrm>
            <a:off x="514350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HTML Forms Attributes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231692-8885-04B2-4CC7-94AC8165AD78}"/>
              </a:ext>
            </a:extLst>
          </p:cNvPr>
          <p:cNvSpPr txBox="1"/>
          <p:nvPr/>
        </p:nvSpPr>
        <p:spPr>
          <a:xfrm>
            <a:off x="514350" y="1227425"/>
            <a:ext cx="1007022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4. autocomplete</a:t>
            </a:r>
            <a:r>
              <a:rPr lang="en-US" sz="2200" dirty="0"/>
              <a:t>: Specifies whether the browser should automatically complete the form fields based on previous input.</a:t>
            </a:r>
          </a:p>
          <a:p>
            <a:r>
              <a:rPr lang="en-US" sz="2200" dirty="0"/>
              <a:t>    </a:t>
            </a:r>
            <a:r>
              <a:rPr lang="en-US" sz="2200" b="1" dirty="0"/>
              <a:t>on</a:t>
            </a:r>
            <a:r>
              <a:rPr lang="en-US" sz="2200" dirty="0"/>
              <a:t>: Allows autocomplete.</a:t>
            </a:r>
          </a:p>
          <a:p>
            <a:r>
              <a:rPr lang="en-US" sz="2200" dirty="0"/>
              <a:t>    </a:t>
            </a:r>
            <a:r>
              <a:rPr lang="en-US" sz="2200" b="1" dirty="0"/>
              <a:t>off</a:t>
            </a:r>
            <a:r>
              <a:rPr lang="en-US" sz="2200" dirty="0"/>
              <a:t>: Disables autocomplete.</a:t>
            </a:r>
          </a:p>
          <a:p>
            <a:r>
              <a:rPr lang="en-US" sz="2200" dirty="0"/>
              <a:t>    Example: &lt;form autocomplete="off"&gt;</a:t>
            </a:r>
          </a:p>
          <a:p>
            <a:r>
              <a:rPr lang="en-US" sz="2200" b="1" dirty="0"/>
              <a:t>5. </a:t>
            </a:r>
            <a:r>
              <a:rPr lang="en-US" sz="2200" b="1" dirty="0" err="1"/>
              <a:t>novalidate</a:t>
            </a:r>
            <a:r>
              <a:rPr lang="en-US" sz="2200" dirty="0"/>
              <a:t>: Prevents the browser from performing the default form validation when the form is submitted.</a:t>
            </a:r>
          </a:p>
          <a:p>
            <a:r>
              <a:rPr lang="en-US" sz="2200" dirty="0"/>
              <a:t>    Example: &lt;form </a:t>
            </a:r>
            <a:r>
              <a:rPr lang="en-US" sz="2200" dirty="0" err="1"/>
              <a:t>novalidate</a:t>
            </a:r>
            <a:r>
              <a:rPr lang="en-US" sz="2200" dirty="0"/>
              <a:t>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791C30-1365-3A09-29F7-92260D5135E1}"/>
              </a:ext>
            </a:extLst>
          </p:cNvPr>
          <p:cNvSpPr txBox="1"/>
          <p:nvPr/>
        </p:nvSpPr>
        <p:spPr>
          <a:xfrm>
            <a:off x="514350" y="4028192"/>
            <a:ext cx="111633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6. method</a:t>
            </a:r>
            <a:r>
              <a:rPr lang="en-US" sz="2200" dirty="0"/>
              <a:t>: Defines the HTTP method (GET or POST) the browser will use to send the form data to the server.</a:t>
            </a:r>
          </a:p>
          <a:p>
            <a:r>
              <a:rPr lang="en-US" sz="2200" dirty="0"/>
              <a:t>    </a:t>
            </a:r>
            <a:r>
              <a:rPr lang="en-US" sz="2200" b="1" dirty="0"/>
              <a:t>GET</a:t>
            </a:r>
            <a:r>
              <a:rPr lang="en-US" sz="2200" dirty="0"/>
              <a:t>: Appends the form data to the URL </a:t>
            </a:r>
          </a:p>
          <a:p>
            <a:r>
              <a:rPr lang="en-US" sz="2200" b="1" dirty="0"/>
              <a:t>    POST</a:t>
            </a:r>
            <a:r>
              <a:rPr lang="en-US" sz="2200" dirty="0"/>
              <a:t>: Sends the form data in the body of the request (more secure).</a:t>
            </a:r>
          </a:p>
          <a:p>
            <a:r>
              <a:rPr lang="en-US" sz="2200" dirty="0"/>
              <a:t>    Example: &lt;form method="POST"&gt;</a:t>
            </a:r>
          </a:p>
          <a:p>
            <a:endParaRPr lang="en-US" sz="2200" dirty="0">
              <a:latin typeface="Consolas"/>
            </a:endParaRPr>
          </a:p>
          <a:p>
            <a:r>
              <a:rPr lang="en-US" sz="2200" dirty="0"/>
              <a:t>See more Form </a:t>
            </a:r>
            <a:r>
              <a:rPr lang="en-US" sz="2200"/>
              <a:t>Attribute </a:t>
            </a:r>
            <a:r>
              <a:rPr lang="en-US" sz="2200">
                <a:hlinkClick r:id="rId2"/>
              </a:rPr>
              <a:t>https://www.w3schools.com/html/html_forms_attributes.asp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735396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A2B82-79B7-47E6-9CE3-DA64FBC05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METHOD: GET vs. POST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026F4E-E97F-47B9-89A5-A7049CC140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5672770"/>
              </p:ext>
            </p:extLst>
          </p:nvPr>
        </p:nvGraphicFramePr>
        <p:xfrm>
          <a:off x="236483" y="1598222"/>
          <a:ext cx="11388605" cy="5230321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678852">
                  <a:extLst>
                    <a:ext uri="{9D8B030D-6E8A-4147-A177-3AD203B41FA5}">
                      <a16:colId xmlns:a16="http://schemas.microsoft.com/office/drawing/2014/main" val="788795704"/>
                    </a:ext>
                  </a:extLst>
                </a:gridCol>
                <a:gridCol w="4635522">
                  <a:extLst>
                    <a:ext uri="{9D8B030D-6E8A-4147-A177-3AD203B41FA5}">
                      <a16:colId xmlns:a16="http://schemas.microsoft.com/office/drawing/2014/main" val="3802308499"/>
                    </a:ext>
                  </a:extLst>
                </a:gridCol>
                <a:gridCol w="4074231">
                  <a:extLst>
                    <a:ext uri="{9D8B030D-6E8A-4147-A177-3AD203B41FA5}">
                      <a16:colId xmlns:a16="http://schemas.microsoft.com/office/drawing/2014/main" val="4013008490"/>
                    </a:ext>
                  </a:extLst>
                </a:gridCol>
              </a:tblGrid>
              <a:tr h="53765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 Feature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GET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POST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2309866813"/>
                  </a:ext>
                </a:extLst>
              </a:tr>
              <a:tr h="53765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History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Parameters remain in browser history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Parameters are not saved in browser history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4202911494"/>
                  </a:ext>
                </a:extLst>
              </a:tr>
              <a:tr h="1261791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Restrictions on data length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Yes, when sending data, the GET method adds the data to the URL; and the length of a URL is limited (maximum URL length is 2048 characters)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No restrictions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596713282"/>
                  </a:ext>
                </a:extLst>
              </a:tr>
              <a:tr h="53765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Restrictions on data type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Only ASCII characters allowed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No restrictions. Binary data is also allowed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774669534"/>
                  </a:ext>
                </a:extLst>
              </a:tr>
              <a:tr h="174455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Security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GET is less secure compared to POST because data sent is part of the URL</a:t>
                      </a:r>
                      <a:br>
                        <a:rPr lang="en-US" sz="1800" dirty="0">
                          <a:effectLst/>
                        </a:rPr>
                      </a:b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Never use GET when sending passwords or other sensitive information!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POST is a little safer than GET because the parameters are not stored in browser history or in web server logs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1535816963"/>
                  </a:ext>
                </a:extLst>
              </a:tr>
              <a:tr h="53765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Visibility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Data is visible to everyone in the URL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Data is not displayed in the URL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1376125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6823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70DE-2FCA-4D5B-BE4E-94A256091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METHOD: GET vs. POST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2736DB-C8A6-45B5-859A-8A579D0570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3189225"/>
              </p:ext>
            </p:extLst>
          </p:nvPr>
        </p:nvGraphicFramePr>
        <p:xfrm>
          <a:off x="378885" y="1708817"/>
          <a:ext cx="11432115" cy="3440366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3423102">
                  <a:extLst>
                    <a:ext uri="{9D8B030D-6E8A-4147-A177-3AD203B41FA5}">
                      <a16:colId xmlns:a16="http://schemas.microsoft.com/office/drawing/2014/main" val="998353734"/>
                    </a:ext>
                  </a:extLst>
                </a:gridCol>
                <a:gridCol w="3984908">
                  <a:extLst>
                    <a:ext uri="{9D8B030D-6E8A-4147-A177-3AD203B41FA5}">
                      <a16:colId xmlns:a16="http://schemas.microsoft.com/office/drawing/2014/main" val="2355860821"/>
                    </a:ext>
                  </a:extLst>
                </a:gridCol>
                <a:gridCol w="4024105">
                  <a:extLst>
                    <a:ext uri="{9D8B030D-6E8A-4147-A177-3AD203B41FA5}">
                      <a16:colId xmlns:a16="http://schemas.microsoft.com/office/drawing/2014/main" val="199796080"/>
                    </a:ext>
                  </a:extLst>
                </a:gridCol>
              </a:tblGrid>
              <a:tr h="34792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 Feature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GET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POST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430658647"/>
                  </a:ext>
                </a:extLst>
              </a:tr>
              <a:tr h="1198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BACK button/Reload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Harmless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Data will be re-submitted (the browser should alert the user that the data are about to be re-submitted)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1545205657"/>
                  </a:ext>
                </a:extLst>
              </a:tr>
              <a:tr h="34792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Bookmarked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Can be bookmarked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Cannot be bookmarked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632301312"/>
                  </a:ext>
                </a:extLst>
              </a:tr>
              <a:tr h="34792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Cached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Can be cached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Not cached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3743342592"/>
                  </a:ext>
                </a:extLst>
              </a:tr>
              <a:tr h="1198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Encoding type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application/x-www-form-</a:t>
                      </a:r>
                      <a:r>
                        <a:rPr lang="en-US" sz="1800" dirty="0" err="1">
                          <a:effectLst/>
                        </a:rPr>
                        <a:t>urlencoded</a:t>
                      </a:r>
                      <a:endParaRPr lang="en-US" sz="1800" dirty="0">
                        <a:effectLst/>
                      </a:endParaRP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application/x-www-form-</a:t>
                      </a:r>
                      <a:r>
                        <a:rPr lang="en-US" sz="1800" dirty="0" err="1">
                          <a:effectLst/>
                        </a:rPr>
                        <a:t>urlencoded</a:t>
                      </a:r>
                      <a:r>
                        <a:rPr lang="en-US" sz="1800" dirty="0">
                          <a:effectLst/>
                        </a:rPr>
                        <a:t> or multipart/form-data. Use multipart encoding for binary data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2709014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110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6860A-5C28-1F43-5C47-41D8FE8C2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45E4C-C391-F73C-A1D2-D971657A04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 </a:t>
            </a:r>
            <a:r>
              <a:rPr lang="en-US" b="1" dirty="0"/>
              <a:t>id</a:t>
            </a:r>
            <a:r>
              <a:rPr lang="en-US" dirty="0"/>
              <a:t> and </a:t>
            </a:r>
            <a:r>
              <a:rPr lang="en-US" b="1" dirty="0"/>
              <a:t>name</a:t>
            </a:r>
            <a:r>
              <a:rPr lang="en-US" dirty="0"/>
              <a:t> Attribute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3B81D7-AE5D-F724-5D9C-B10A64C282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26B6F18-A246-CDC8-7EC0-EAAAC9372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690015"/>
              </p:ext>
            </p:extLst>
          </p:nvPr>
        </p:nvGraphicFramePr>
        <p:xfrm>
          <a:off x="378372" y="2017059"/>
          <a:ext cx="11461531" cy="422608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532356">
                  <a:extLst>
                    <a:ext uri="{9D8B030D-6E8A-4147-A177-3AD203B41FA5}">
                      <a16:colId xmlns:a16="http://schemas.microsoft.com/office/drawing/2014/main" val="1481362414"/>
                    </a:ext>
                  </a:extLst>
                </a:gridCol>
                <a:gridCol w="5929175">
                  <a:extLst>
                    <a:ext uri="{9D8B030D-6E8A-4147-A177-3AD203B41FA5}">
                      <a16:colId xmlns:a16="http://schemas.microsoft.com/office/drawing/2014/main" val="699133904"/>
                    </a:ext>
                  </a:extLst>
                </a:gridCol>
              </a:tblGrid>
              <a:tr h="346839">
                <a:tc>
                  <a:txBody>
                    <a:bodyPr/>
                    <a:lstStyle/>
                    <a:p>
                      <a:r>
                        <a:rPr lang="en-US" sz="2000" b="1" dirty="0"/>
                        <a:t>id Attribute</a:t>
                      </a:r>
                      <a:endParaRPr lang="en-US" sz="2000" dirty="0"/>
                    </a:p>
                  </a:txBody>
                  <a:tcPr marL="38763" marR="38763" marT="19381" marB="19381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name Attribute</a:t>
                      </a:r>
                      <a:endParaRPr lang="en-US" sz="2000" dirty="0"/>
                    </a:p>
                  </a:txBody>
                  <a:tcPr marL="38763" marR="38763" marT="19381" marB="19381" anchor="ctr"/>
                </a:tc>
                <a:extLst>
                  <a:ext uri="{0D108BD9-81ED-4DB2-BD59-A6C34878D82A}">
                    <a16:rowId xmlns:a16="http://schemas.microsoft.com/office/drawing/2014/main" val="1994764975"/>
                  </a:ext>
                </a:extLst>
              </a:tr>
              <a:tr h="684778">
                <a:tc>
                  <a:txBody>
                    <a:bodyPr/>
                    <a:lstStyle/>
                    <a:p>
                      <a:r>
                        <a:rPr lang="en-US" sz="2000" dirty="0"/>
                        <a:t>Used to </a:t>
                      </a:r>
                      <a:r>
                        <a:rPr lang="en-US" sz="2000" b="1" dirty="0"/>
                        <a:t>uniquely identify a single element </a:t>
                      </a:r>
                      <a:r>
                        <a:rPr lang="en-US" sz="2000" dirty="0"/>
                        <a:t>on the page</a:t>
                      </a:r>
                    </a:p>
                  </a:txBody>
                  <a:tcPr marL="38763" marR="38763" marT="19381" marB="19381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Primarily used to reference form elements or for grouping elements in forms</a:t>
                      </a:r>
                    </a:p>
                  </a:txBody>
                  <a:tcPr marL="38763" marR="38763" marT="19381" marB="19381" anchor="ctr"/>
                </a:tc>
                <a:extLst>
                  <a:ext uri="{0D108BD9-81ED-4DB2-BD59-A6C34878D82A}">
                    <a16:rowId xmlns:a16="http://schemas.microsoft.com/office/drawing/2014/main" val="3649718979"/>
                  </a:ext>
                </a:extLst>
              </a:tr>
              <a:tr h="962254">
                <a:tc>
                  <a:txBody>
                    <a:bodyPr/>
                    <a:lstStyle/>
                    <a:p>
                      <a:r>
                        <a:rPr lang="en-US" sz="2000" dirty="0"/>
                        <a:t>Must be unique within the entire HTML document (no two elements can share the same id)</a:t>
                      </a:r>
                    </a:p>
                  </a:txBody>
                  <a:tcPr marL="38763" marR="38763" marT="19381" marB="19381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Can be shared by multiple elements (useful for grouping, especially in forms)</a:t>
                      </a:r>
                    </a:p>
                  </a:txBody>
                  <a:tcPr marL="38763" marR="38763" marT="19381" marB="19381" anchor="ctr"/>
                </a:tc>
                <a:extLst>
                  <a:ext uri="{0D108BD9-81ED-4DB2-BD59-A6C34878D82A}">
                    <a16:rowId xmlns:a16="http://schemas.microsoft.com/office/drawing/2014/main" val="1022357483"/>
                  </a:ext>
                </a:extLst>
              </a:tr>
              <a:tr h="1269961">
                <a:tc>
                  <a:txBody>
                    <a:bodyPr/>
                    <a:lstStyle/>
                    <a:p>
                      <a:r>
                        <a:rPr lang="en-US" sz="2000" dirty="0"/>
                        <a:t>Commonly used for targeting elements in CSS or JavaScript (e.g., </a:t>
                      </a:r>
                      <a:r>
                        <a:rPr lang="en-US" sz="2000" dirty="0" err="1"/>
                        <a:t>document.getElementById</a:t>
                      </a:r>
                      <a:r>
                        <a:rPr lang="en-US" sz="2000" dirty="0"/>
                        <a:t>() or #id selector in CSS)</a:t>
                      </a:r>
                    </a:p>
                  </a:txBody>
                  <a:tcPr marL="38763" marR="38763" marT="19381" marB="19381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Not used for styling or direct JavaScript targeting; used in form submission to identify form fields</a:t>
                      </a:r>
                    </a:p>
                  </a:txBody>
                  <a:tcPr marL="38763" marR="38763" marT="19381" marB="19381" anchor="ctr"/>
                </a:tc>
                <a:extLst>
                  <a:ext uri="{0D108BD9-81ED-4DB2-BD59-A6C34878D82A}">
                    <a16:rowId xmlns:a16="http://schemas.microsoft.com/office/drawing/2014/main" val="687916140"/>
                  </a:ext>
                </a:extLst>
              </a:tr>
              <a:tr h="962254">
                <a:tc>
                  <a:txBody>
                    <a:bodyPr/>
                    <a:lstStyle/>
                    <a:p>
                      <a:r>
                        <a:rPr lang="en-US" sz="2000" dirty="0"/>
                        <a:t>Not used directly in form submission; only for manipulating the DOM via scripts</a:t>
                      </a:r>
                    </a:p>
                  </a:txBody>
                  <a:tcPr marL="38763" marR="38763" marT="19381" marB="19381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Typically used in form fields to send data to the server when a form is submitted (e.g., &lt;input name="email"&gt;)</a:t>
                      </a:r>
                    </a:p>
                  </a:txBody>
                  <a:tcPr marL="38763" marR="38763" marT="19381" marB="19381" anchor="ctr"/>
                </a:tc>
                <a:extLst>
                  <a:ext uri="{0D108BD9-81ED-4DB2-BD59-A6C34878D82A}">
                    <a16:rowId xmlns:a16="http://schemas.microsoft.com/office/drawing/2014/main" val="187186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1614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092026" y="855386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HTML Input Types (Attribute)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092026" y="1348800"/>
            <a:ext cx="962852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Here are the different input types you can use in HTML:</a:t>
            </a:r>
            <a:endParaRPr lang="en-US" sz="2200" dirty="0">
              <a:latin typeface="Consolas"/>
            </a:endParaRPr>
          </a:p>
          <a:p>
            <a:r>
              <a:rPr lang="en-US" sz="2200" dirty="0"/>
              <a:t>&lt;input type="button"&gt;</a:t>
            </a:r>
          </a:p>
          <a:p>
            <a:r>
              <a:rPr lang="en-US" sz="2200" dirty="0"/>
              <a:t>&lt;input type="checkbox"&gt;</a:t>
            </a:r>
          </a:p>
          <a:p>
            <a:r>
              <a:rPr lang="en-US" sz="2200" dirty="0"/>
              <a:t>&lt;input type="email"&gt;</a:t>
            </a:r>
          </a:p>
          <a:p>
            <a:r>
              <a:rPr lang="en-US" sz="2200" dirty="0"/>
              <a:t>&lt;input type="file"&gt;</a:t>
            </a:r>
          </a:p>
          <a:p>
            <a:r>
              <a:rPr lang="en-US" sz="2200" dirty="0"/>
              <a:t>&lt;input type="hidden"&gt;</a:t>
            </a:r>
          </a:p>
          <a:p>
            <a:r>
              <a:rPr lang="en-US" sz="2200" dirty="0"/>
              <a:t>&lt;input type="image"&gt;</a:t>
            </a:r>
          </a:p>
          <a:p>
            <a:r>
              <a:rPr lang="en-US" sz="2200" dirty="0"/>
              <a:t>&lt;input type="month"&gt;</a:t>
            </a:r>
          </a:p>
          <a:p>
            <a:r>
              <a:rPr lang="en-US" sz="2200" dirty="0"/>
              <a:t>&lt;input type="number"&gt;</a:t>
            </a:r>
          </a:p>
          <a:p>
            <a:r>
              <a:rPr lang="en-US" sz="2200" dirty="0"/>
              <a:t>&lt;input type="password"&gt;</a:t>
            </a:r>
          </a:p>
          <a:p>
            <a:r>
              <a:rPr lang="en-US" sz="2200" dirty="0"/>
              <a:t>&lt;input type="radio"&gt;</a:t>
            </a:r>
          </a:p>
          <a:p>
            <a:r>
              <a:rPr lang="en-US" sz="2200" dirty="0"/>
              <a:t>&lt;input type="range"&gt;</a:t>
            </a:r>
          </a:p>
          <a:p>
            <a:endParaRPr lang="en-US" sz="2200" dirty="0">
              <a:latin typeface="Consolas"/>
            </a:endParaRPr>
          </a:p>
          <a:p>
            <a:r>
              <a:rPr lang="en-US" sz="2200" dirty="0"/>
              <a:t>See more input type </a:t>
            </a:r>
            <a:r>
              <a:rPr lang="en-US" sz="2200" dirty="0">
                <a:hlinkClick r:id="rId2"/>
              </a:rPr>
              <a:t>https://www.w3schools.com/html/html_form_input_types.asp</a:t>
            </a:r>
            <a:endParaRPr lang="en-US" sz="2200" dirty="0"/>
          </a:p>
          <a:p>
            <a:pPr marL="285750" indent="-285750">
              <a:buFont typeface="Arial" pitchFamily="34" charset="0"/>
              <a:buChar char="•"/>
            </a:pPr>
            <a:endParaRPr lang="x-none" sz="2200" dirty="0"/>
          </a:p>
        </p:txBody>
      </p:sp>
    </p:spTree>
    <p:extLst>
      <p:ext uri="{BB962C8B-B14F-4D97-AF65-F5344CB8AC3E}">
        <p14:creationId xmlns:p14="http://schemas.microsoft.com/office/powerpoint/2010/main" val="3897308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BB8D0-EBCC-8081-8284-B582BFE31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B629EFF1-5A67-B3BD-E687-116668C90078}"/>
              </a:ext>
            </a:extLst>
          </p:cNvPr>
          <p:cNvSpPr txBox="1">
            <a:spLocks/>
          </p:cNvSpPr>
          <p:nvPr/>
        </p:nvSpPr>
        <p:spPr>
          <a:xfrm>
            <a:off x="897797" y="70511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HTML &lt;form&gt; Elements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35D0B1-08F7-441B-62A1-9F7EE2EF6BA6}"/>
              </a:ext>
            </a:extLst>
          </p:cNvPr>
          <p:cNvSpPr txBox="1"/>
          <p:nvPr/>
        </p:nvSpPr>
        <p:spPr>
          <a:xfrm>
            <a:off x="1044729" y="1198526"/>
            <a:ext cx="7916091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 HTML &lt;form&gt; element can contain one or more of the following form elements: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&lt;input&gt;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&lt;label&gt;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&lt;select&gt;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</a:t>
            </a:r>
            <a:r>
              <a:rPr lang="en-US" sz="2200" dirty="0" err="1"/>
              <a:t>textarea</a:t>
            </a:r>
            <a:r>
              <a:rPr lang="en-US" sz="2200" dirty="0"/>
              <a:t>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&lt;button&gt;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</a:t>
            </a:r>
            <a:r>
              <a:rPr lang="en-US" sz="2200" dirty="0" err="1"/>
              <a:t>fieldset</a:t>
            </a:r>
            <a:r>
              <a:rPr lang="en-US" sz="2200" dirty="0"/>
              <a:t>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&lt;legend&gt;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</a:t>
            </a:r>
            <a:r>
              <a:rPr lang="en-US" sz="2200" dirty="0" err="1"/>
              <a:t>datalist</a:t>
            </a:r>
            <a:r>
              <a:rPr lang="en-US" sz="2200" dirty="0"/>
              <a:t>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&lt;output&gt;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&lt;option&gt;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</a:t>
            </a:r>
            <a:r>
              <a:rPr lang="en-US" sz="2200" dirty="0" err="1"/>
              <a:t>optgroup</a:t>
            </a:r>
            <a:r>
              <a:rPr lang="en-US" sz="2200" dirty="0"/>
              <a:t>&gt;</a:t>
            </a:r>
          </a:p>
          <a:p>
            <a:endParaRPr lang="en-US" sz="2200" dirty="0">
              <a:latin typeface="Consolas"/>
            </a:endParaRPr>
          </a:p>
          <a:p>
            <a:r>
              <a:rPr lang="en-US" sz="2200" dirty="0"/>
              <a:t>See more input elements </a:t>
            </a:r>
            <a:r>
              <a:rPr lang="en-US" sz="2200" dirty="0">
                <a:hlinkClick r:id="rId2"/>
              </a:rPr>
              <a:t>https://www.w3schools.com/html/html_form_elements.asp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72183796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1258</Words>
  <Application>Microsoft Office PowerPoint</Application>
  <PresentationFormat>Widescreen</PresentationFormat>
  <Paragraphs>147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Consolas</vt:lpstr>
      <vt:lpstr>Corbel</vt:lpstr>
      <vt:lpstr>Wingdings</vt:lpstr>
      <vt:lpstr>Spectrum</vt:lpstr>
      <vt:lpstr>HTML FORM</vt:lpstr>
      <vt:lpstr>HTML Forms</vt:lpstr>
      <vt:lpstr>PowerPoint Presentation</vt:lpstr>
      <vt:lpstr>PowerPoint Presentation</vt:lpstr>
      <vt:lpstr>PowerPoint Presentation</vt:lpstr>
      <vt:lpstr>METHOD: GET vs. POST</vt:lpstr>
      <vt:lpstr>METHOD: GET vs. POST</vt:lpstr>
      <vt:lpstr> id and name Attribute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Sazzad Hossain</dc:creator>
  <cp:lastModifiedBy>Sazzad Hossain</cp:lastModifiedBy>
  <cp:revision>93</cp:revision>
  <dcterms:created xsi:type="dcterms:W3CDTF">2025-03-09T06:56:01Z</dcterms:created>
  <dcterms:modified xsi:type="dcterms:W3CDTF">2025-03-19T03:56:40Z</dcterms:modified>
</cp:coreProperties>
</file>